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640080"/>
            <a:ext cx="4114800" cy="4114800"/>
          </a:xfrm>
          <a:prstGeom prst="ellipse">
            <a:avLst/>
          </a:prstGeom>
          <a:solidFill>
            <a:srgbClr val="0D1B2A"/>
          </a:solidFill>
          <a:ln w="6350">
            <a:solidFill>
              <a:srgbClr val="E8A8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FENDY ZERO™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2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وطنية لاسترداد الموارد وتحويل المخلفات إلى أصول صناعية سيادية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Platform for Resource Recovery &amp; Zero Waste Industrial Transformation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2697480"/>
            <a:ext cx="41148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2880360"/>
            <a:ext cx="201168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 Industrial Products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14600" y="2880360"/>
            <a:ext cx="201168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146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60–90 Day Deployment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2880360"/>
            <a:ext cx="201168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Zero-Cement Construction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12280" y="2880360"/>
            <a:ext cx="201168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122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Carbon-Negative Output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</a:rPr>
              <a:t>PILOT CONCEPT PACKAGE  |  CONFIDENTIAL  |  May 2026 / ذو الحجة 1447هـ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</a:rPr>
              <a:t>Dr. Khaled Abdelnaaim Fendy  |  Honest Fendy Foundation™  |  Est. 2009  |  Upper Egypt / Saudi Arabia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838"/>
                </a:solidFill>
              </a:rPr>
              <a:t>Patents Filed: SAIP #64235816 + 3 additional filed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PILOT PLANT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Modular Design — Deploy Anywhere in 90 Days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100584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00584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Plant Footprint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500–800 m²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3310128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10128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60–90 Days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100584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00584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6281928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Daily Input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81928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10–15 t/day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28600" y="224028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224028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Daily Output (AC)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38328" y="2715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3–5 t/day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00400" y="224028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0" y="224028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3"/>
          <p:cNvSpPr/>
          <p:nvPr/>
        </p:nvSpPr>
        <p:spPr>
          <a:xfrm>
            <a:off x="3310128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Power Source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310128" y="2715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Grid + Solar 15–30 kW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224028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72200" y="224028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7"/>
          <p:cNvSpPr/>
          <p:nvPr/>
        </p:nvSpPr>
        <p:spPr>
          <a:xfrm>
            <a:off x="6281928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Manning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81928" y="2715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12–18 Saudi + 3 Engineers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28600" y="347472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28600" y="347472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1"/>
          <p:cNvSpPr/>
          <p:nvPr/>
        </p:nvSpPr>
        <p:spPr>
          <a:xfrm>
            <a:off x="338328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Operating Temp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3832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Ambient — No Furnace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200400" y="347472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00400" y="347472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8" name="Text 35"/>
          <p:cNvSpPr/>
          <p:nvPr/>
        </p:nvSpPr>
        <p:spPr>
          <a:xfrm>
            <a:off x="3310128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Water Requirement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31012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Closed-loop minimal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172200" y="3474720"/>
            <a:ext cx="2788920" cy="1051560"/>
          </a:xfrm>
          <a:prstGeom prst="rect">
            <a:avLst/>
          </a:prstGeom>
          <a:solidFill>
            <a:srgbClr val="142233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72200" y="3474720"/>
            <a:ext cx="27889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2" name="Text 39"/>
          <p:cNvSpPr/>
          <p:nvPr/>
        </p:nvSpPr>
        <p:spPr>
          <a:xfrm>
            <a:off x="6281928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Certification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8192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 9001 + SASO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FENDY BioAC™  —  Activated Carbon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</a:rPr>
              <a:t>HSBAP™ — Six-Stage Hydrochemical Sequential Bioactivation Protocol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14400"/>
            <a:ext cx="393192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FEEDSTOCK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325880"/>
            <a:ext cx="3931920" cy="804672"/>
          </a:xfrm>
          <a:prstGeom prst="rect">
            <a:avLst/>
          </a:prstGeom>
          <a:solidFill>
            <a:srgbClr val="142233"/>
          </a:solidFill>
          <a:ln w="63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1325880"/>
            <a:ext cx="73152" cy="8046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13990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Date Palm Fronds  جريد النخيل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004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A3"/>
                </a:solidFill>
              </a:rPr>
              <a:t>Qassim + Al-Ahsa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46120" y="1463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</a:rPr>
              <a:t>40–50%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2880" y="2221992"/>
            <a:ext cx="3931920" cy="804672"/>
          </a:xfrm>
          <a:prstGeom prst="rect">
            <a:avLst/>
          </a:prstGeom>
          <a:solidFill>
            <a:srgbClr val="142233"/>
          </a:solidFill>
          <a:ln w="63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221992"/>
            <a:ext cx="73152" cy="8046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4"/>
          <p:cNvSpPr/>
          <p:nvPr/>
        </p:nvSpPr>
        <p:spPr>
          <a:xfrm>
            <a:off x="320040" y="229514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Date Pits  نوى البلح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2660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A3"/>
                </a:solidFill>
              </a:rPr>
              <a:t>Qassim + Madinah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46120" y="23591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</a:rPr>
              <a:t>20–25%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82880" y="3118104"/>
            <a:ext cx="3931920" cy="804672"/>
          </a:xfrm>
          <a:prstGeom prst="rect">
            <a:avLst/>
          </a:prstGeom>
          <a:solidFill>
            <a:srgbClr val="142233"/>
          </a:solidFill>
          <a:ln w="63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3118104"/>
            <a:ext cx="73152" cy="8046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31912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Olive Pits  نوى الزيتون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0040" y="3557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A3"/>
                </a:solidFill>
              </a:rPr>
              <a:t>Al-Jouf + Tabuk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46120" y="32552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</a:rPr>
              <a:t>15–20%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82880" y="4014216"/>
            <a:ext cx="3931920" cy="804672"/>
          </a:xfrm>
          <a:prstGeom prst="rect">
            <a:avLst/>
          </a:prstGeom>
          <a:solidFill>
            <a:srgbClr val="142233"/>
          </a:solidFill>
          <a:ln w="63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82880" y="4014216"/>
            <a:ext cx="73152" cy="8046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4"/>
          <p:cNvSpPr/>
          <p:nvPr/>
        </p:nvSpPr>
        <p:spPr>
          <a:xfrm>
            <a:off x="320040" y="4087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Powdered Basalt  بازلت مطحون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A3"/>
                </a:solidFill>
              </a:rPr>
              <a:t>Al-Harrah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246120" y="41513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</a:rPr>
              <a:t>5–10%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97680" y="914400"/>
            <a:ext cx="4663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97680" y="914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HSBAP™ SIX-STAGE PROCESS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297680" y="132588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143560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1"/>
          <p:cNvSpPr/>
          <p:nvPr/>
        </p:nvSpPr>
        <p:spPr>
          <a:xfrm>
            <a:off x="4352544" y="14356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1362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Carbonization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18304" y="1600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400–600°C  ·  O₂-free  ·  90–120 min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297680" y="192024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52544" y="202996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6"/>
          <p:cNvSpPr/>
          <p:nvPr/>
        </p:nvSpPr>
        <p:spPr>
          <a:xfrm>
            <a:off x="4352544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18304" y="1956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Citric Acid Wash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718304" y="21945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5% solution  ·  pore opening  ·  2–4 hrs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297680" y="251460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52544" y="262432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1"/>
          <p:cNvSpPr/>
          <p:nvPr/>
        </p:nvSpPr>
        <p:spPr>
          <a:xfrm>
            <a:off x="4352544" y="26243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18304" y="2551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ZnCl₂ Activation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18304" y="27889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1.5× char weight  ·  12–16 hrs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297680" y="310896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352544" y="321868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6"/>
          <p:cNvSpPr/>
          <p:nvPr/>
        </p:nvSpPr>
        <p:spPr>
          <a:xfrm>
            <a:off x="4352544" y="32186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718304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Steam Activation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718304" y="33832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500–550°C  ·  self-generated steam  ·  90–120 min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297680" y="370332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352544" y="381304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Text 51"/>
          <p:cNvSpPr/>
          <p:nvPr/>
        </p:nvSpPr>
        <p:spPr>
          <a:xfrm>
            <a:off x="4352544" y="381304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718304" y="3739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Washing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718304" y="3977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Counter-flow  ·  pH 6.5–7.5  ·  2–3 hrs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297680" y="4297680"/>
            <a:ext cx="466344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352544" y="4407408"/>
            <a:ext cx="301752" cy="3017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9" name="Text 56"/>
          <p:cNvSpPr/>
          <p:nvPr/>
        </p:nvSpPr>
        <p:spPr>
          <a:xfrm>
            <a:off x="4352544" y="4407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718304" y="4334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Bio-Inoculation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718304" y="45720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Bacillus subtilis  ·  ≥10⁸ CFU/g  ·  4–8 hrs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BioAC™ Quality Control Targets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38"/>
                </a:solidFill>
              </a:rPr>
              <a:t>World-class benchmarks — verified batch-by-batch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60120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960120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≥ 900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mg/g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Iodine Number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Every Batch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404872" y="960120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04872" y="960120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3"/>
          <p:cNvSpPr/>
          <p:nvPr/>
        </p:nvSpPr>
        <p:spPr>
          <a:xfrm>
            <a:off x="2478024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800–1,200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478024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m²/g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478024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Surface Area (BET)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478024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Monthly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26864" y="960120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26864" y="960120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19"/>
          <p:cNvSpPr/>
          <p:nvPr/>
        </p:nvSpPr>
        <p:spPr>
          <a:xfrm>
            <a:off x="4700016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6.5–7.5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700016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pH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00016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pH Target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0016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Every Batch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848856" y="960120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48856" y="960120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5"/>
          <p:cNvSpPr/>
          <p:nvPr/>
        </p:nvSpPr>
        <p:spPr>
          <a:xfrm>
            <a:off x="6922008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5%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922008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moisture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22008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Moisture Content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922008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Every Batch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82880" y="2953512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82880" y="2953512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4" name="Text 31"/>
          <p:cNvSpPr/>
          <p:nvPr/>
        </p:nvSpPr>
        <p:spPr>
          <a:xfrm>
            <a:off x="256032" y="31363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≥ 10⁸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256032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CFU/g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56032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Bacillus subtilis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56032" y="4379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Weekly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404872" y="2953512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404872" y="2953512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0" name="Text 37"/>
          <p:cNvSpPr/>
          <p:nvPr/>
        </p:nvSpPr>
        <p:spPr>
          <a:xfrm>
            <a:off x="2478024" y="31363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50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2478024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ppm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478024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Zinc Residue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478024" y="4379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Every 5 Batches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4626864" y="2953512"/>
            <a:ext cx="2084832" cy="182880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626864" y="2953512"/>
            <a:ext cx="2084832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6" name="Text 43"/>
          <p:cNvSpPr/>
          <p:nvPr/>
        </p:nvSpPr>
        <p:spPr>
          <a:xfrm>
            <a:off x="4700016" y="31363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30–40%</a:t>
            </a:r>
            <a:endParaRPr lang="en-US" sz="2800" dirty="0"/>
          </a:p>
        </p:txBody>
      </p:sp>
      <p:sp>
        <p:nvSpPr>
          <p:cNvPr id="47" name="Text 44"/>
          <p:cNvSpPr/>
          <p:nvPr/>
        </p:nvSpPr>
        <p:spPr>
          <a:xfrm>
            <a:off x="4700016" y="3758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yield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700016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1"/>
                </a:solidFill>
              </a:rPr>
              <a:t>Mass Yield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700016" y="4379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Every Batch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FENDY ThermalBatt™ — Thermal Battery Brick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838"/>
                </a:solidFill>
              </a:rPr>
              <a:t>Salt PCM Donut Brick  ·  Cold Press Protocol  ·  Phase-Change Thermal Energy Storage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60120"/>
            <a:ext cx="8778240" cy="1207008"/>
          </a:xfrm>
          <a:prstGeom prst="rect">
            <a:avLst/>
          </a:prstGeom>
          <a:solidFill>
            <a:srgbClr val="142233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960120"/>
            <a:ext cx="109728" cy="120700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FA5"/>
                </a:solidFill>
              </a:rPr>
              <a:t>OUTER SHELL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6FA5"/>
                </a:solidFill>
              </a:rPr>
              <a:t>67%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743200" y="106984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Industrial slag (SABIC) + Basalt + Rice straw silica + Lime  (35%+10%+15%+7%)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Structural integrity  ·  Thermal insulation  ·  Pressure resistance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2880" y="2286000"/>
            <a:ext cx="8778240" cy="1207008"/>
          </a:xfrm>
          <a:prstGeom prst="rect">
            <a:avLst/>
          </a:prstGeom>
          <a:solidFill>
            <a:srgbClr val="142233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2286000"/>
            <a:ext cx="109728" cy="1207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MID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</a:rPr>
              <a:t>33%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743200" y="239572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Palm frond fiber + Date pit charcoal + Olive pit char  (20%+10%+3%)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Internal fuel  ·  Regulated air channel porosity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611880"/>
            <a:ext cx="8778240" cy="1207008"/>
          </a:xfrm>
          <a:prstGeom prst="rect">
            <a:avLst/>
          </a:prstGeom>
          <a:solidFill>
            <a:srgbClr val="142233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611880"/>
            <a:ext cx="109728" cy="1207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CORE ★ PCM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3%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2743200" y="372160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Crystalline salt (brine-derived) + Thermal clay  (3%)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1"/>
                </a:solidFill>
              </a:rPr>
              <a:t>Phase-Change Material — absorbs heat on melting, releases on solidification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A3"/>
                </a:solidFill>
              </a:rPr>
              <a:t>Grades: Economic (100 bar / 24h)  ·  Standard (150 bar / 48h)  ·  Premium (200 bar / 72h)  ·  Donut form: OD 120–150mm / ID 40–50mm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</a:rPr>
              <a:t>05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FENDY BioInterlock™ — Zero-Cement Cold-Press Block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896"/>
                </a:solidFill>
              </a:rPr>
              <a:t>Hydrated lime binder  ·  No Portland cement  ·  Carbon-negative construction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6012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96012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" y="10149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40–50%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17320" y="1014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SABIC/NISCO Industrial Slag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13624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Primary structural matrix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2880" y="192024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1920240"/>
            <a:ext cx="91440" cy="8229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" y="19751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</a:rPr>
              <a:t>30–35%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1975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Agricultural Biochar (Bacillus)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417320" y="23225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Carbon sequestration + porosity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82880" y="288036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2880360"/>
            <a:ext cx="91440" cy="8229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" y="29352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FA5"/>
                </a:solidFill>
              </a:rPr>
              <a:t>10–15%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417320" y="2935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Al-Harrah Basalt Powder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417320" y="32826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Mineral bonding agent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82880" y="384048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3840480"/>
            <a:ext cx="91440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2"/>
          <p:cNvSpPr/>
          <p:nvPr/>
        </p:nvSpPr>
        <p:spPr>
          <a:xfrm>
            <a:off x="329184" y="38953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Binder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17320" y="3895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Hydrated Lime Binder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417320" y="42428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No Portland cement used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480560" y="914400"/>
            <a:ext cx="448056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6"/>
          <p:cNvSpPr/>
          <p:nvPr/>
        </p:nvSpPr>
        <p:spPr>
          <a:xfrm>
            <a:off x="448056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SPECIFICATIONS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80560" y="137160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7720" y="141732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Press Pressure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17720" y="16276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150 bar cold press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480560" y="196596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201168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Cure Treatment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617720" y="22219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Steam 48h + 7-day ambient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480560" y="256032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17720" y="26060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Compressive Strength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617720" y="28163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25–45 MPa  (ASTM C39)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480560" y="315468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17720" y="320040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Water Absorption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17720" y="34107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&lt; 10%  (ASTM C140)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480560" y="374904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17720" y="379476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Carbon Footprint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617720" y="40050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NEGATIVE — permanent sequestration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480560" y="4343400"/>
            <a:ext cx="4480560" cy="530352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17720" y="438912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Geometry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617720" y="4599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Proprietary dovetail — no mortar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CC71"/>
                </a:solidFill>
              </a:rPr>
              <a:t>06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FENDY Smart Soil™ — Carbon-Negative Agricultural Substrate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</a:rPr>
              <a:t>5–7 year mineral slow-release  ·  +60% water retention  ·  40% fertilizer reduction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6012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960120"/>
            <a:ext cx="91440" cy="8229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" y="10149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838"/>
                </a:solidFill>
              </a:rPr>
              <a:t>40%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25880" y="10149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Agricultural Ash + Biochar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25880" y="13624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Immediate + slow carbon release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2880" y="192024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1920240"/>
            <a:ext cx="91440" cy="8229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" y="19751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6FA5"/>
                </a:solidFill>
              </a:rPr>
              <a:t>25%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25880" y="19751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Basalt Powder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325880" y="23225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5–7 year mineral slow-release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82880" y="288036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2880360"/>
            <a:ext cx="91440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" y="29352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C71"/>
                </a:solidFill>
              </a:rPr>
              <a:t>15%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25880" y="2935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Volcanic Rock (حجر حارة)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25880" y="32826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Structural porosity + minerals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82880" y="3840480"/>
            <a:ext cx="4114800" cy="82296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384048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2"/>
          <p:cNvSpPr/>
          <p:nvPr/>
        </p:nvSpPr>
        <p:spPr>
          <a:xfrm>
            <a:off x="329184" y="38953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</a:rPr>
              <a:t>20%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325880" y="38953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Clay (طمي) + Lime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325880" y="42428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pH buffering + particle binding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480560" y="914400"/>
            <a:ext cx="448056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9" name="Text 26"/>
          <p:cNvSpPr/>
          <p:nvPr/>
        </p:nvSpPr>
        <p:spPr>
          <a:xfrm>
            <a:off x="448056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TARGETS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80560" y="1371600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7720" y="1408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Soil Fertility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17720" y="16093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+3–4×  baseline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480560" y="1883664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Water Retention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17720" y="21214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+60%  above control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480560" y="2395728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17720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CO₂ Impact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17720" y="2633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Carbon-NEGATIVE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480560" y="2907792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17720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Fertilizer Use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17720" y="31455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40%  less required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480560" y="3419856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17720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Active Lifespan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617720" y="36576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5–7 years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480560" y="3931920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17720" y="3968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Target pH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617720" y="41696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6.5–7.5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480560" y="4443984"/>
            <a:ext cx="4480560" cy="457200"/>
          </a:xfrm>
          <a:prstGeom prst="rect">
            <a:avLst/>
          </a:prstGeom>
          <a:solidFill>
            <a:srgbClr val="142233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4480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D8D0"/>
                </a:solidFill>
              </a:rPr>
              <a:t>Bacillus subtilis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617720" y="4681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Continuous N₂ fixation — spray treatment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</a:rPr>
              <a:t>07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VALIDATION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</a:rPr>
              <a:t>Priority Sequence for Physical Proof-of-Concept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65836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32688"/>
            <a:ext cx="8778240" cy="713232"/>
          </a:xfrm>
          <a:prstGeom prst="rect">
            <a:avLst/>
          </a:prstGeom>
          <a:solidFill>
            <a:srgbClr val="142233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932688"/>
            <a:ext cx="91440" cy="7132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" y="1097280"/>
            <a:ext cx="41148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" y="1097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" y="969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IMMEDIATE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14400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BioAC™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77440" y="1005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Iodine Number — ASTM D4607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D8D0"/>
                </a:solidFill>
              </a:rPr>
              <a:t>Riyadh Accredited Lab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12648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1–4 Weeks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" y="1755648"/>
            <a:ext cx="8778240" cy="713232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1755648"/>
            <a:ext cx="91440" cy="7132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6"/>
          <p:cNvSpPr/>
          <p:nvPr/>
        </p:nvSpPr>
        <p:spPr>
          <a:xfrm>
            <a:off x="329184" y="1920240"/>
            <a:ext cx="41148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4400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MONTH 1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14400" y="2048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BioAC™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7744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 HSBAP Batch QC (pH, BET, Zn, CFU)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2648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D8D0"/>
                </a:solidFill>
              </a:rPr>
              <a:t>University Chemistry Dept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1264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4–8 Weeks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2880" y="2578608"/>
            <a:ext cx="8778240" cy="713232"/>
          </a:xfrm>
          <a:prstGeom prst="rect">
            <a:avLst/>
          </a:prstGeom>
          <a:solidFill>
            <a:srgbClr val="142233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82880" y="2578608"/>
            <a:ext cx="91440" cy="7132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Shape 25"/>
          <p:cNvSpPr/>
          <p:nvPr/>
        </p:nvSpPr>
        <p:spPr>
          <a:xfrm>
            <a:off x="329184" y="2743200"/>
            <a:ext cx="411480" cy="3657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9" name="Text 26"/>
          <p:cNvSpPr/>
          <p:nvPr/>
        </p:nvSpPr>
        <p:spPr>
          <a:xfrm>
            <a:off x="329184" y="2743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P3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1440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MONTH 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914400" y="2871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ThermalBatt™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37744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PCM Performance — DSC Thermal Cycling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2648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D8D0"/>
                </a:solidFill>
              </a:rPr>
              <a:t>KAUST Materials Lab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1264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2–3 Months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82880" y="3401568"/>
            <a:ext cx="8778240" cy="713232"/>
          </a:xfrm>
          <a:prstGeom prst="rect">
            <a:avLst/>
          </a:prstGeom>
          <a:solidFill>
            <a:srgbClr val="142233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82880" y="3401568"/>
            <a:ext cx="91440" cy="71323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7" name="Shape 34"/>
          <p:cNvSpPr/>
          <p:nvPr/>
        </p:nvSpPr>
        <p:spPr>
          <a:xfrm>
            <a:off x="329184" y="3566160"/>
            <a:ext cx="411480" cy="3657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38" name="Text 35"/>
          <p:cNvSpPr/>
          <p:nvPr/>
        </p:nvSpPr>
        <p:spPr>
          <a:xfrm>
            <a:off x="329184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914400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6FA5"/>
                </a:solidFill>
              </a:rPr>
              <a:t>MONTH 3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14400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BioInterlock™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37744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Compressive Strength — ASTM C39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12648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D8D0"/>
                </a:solidFill>
              </a:rPr>
              <a:t>Engineering Faculty Lab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12648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</a:rPr>
              <a:t>2–3 Months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82880" y="4224528"/>
            <a:ext cx="8778240" cy="713232"/>
          </a:xfrm>
          <a:prstGeom prst="rect">
            <a:avLst/>
          </a:prstGeom>
          <a:solidFill>
            <a:srgbClr val="142233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182880" y="4224528"/>
            <a:ext cx="91440" cy="7132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6" name="Shape 43"/>
          <p:cNvSpPr/>
          <p:nvPr/>
        </p:nvSpPr>
        <p:spPr>
          <a:xfrm>
            <a:off x="329184" y="4389120"/>
            <a:ext cx="41148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7" name="Text 44"/>
          <p:cNvSpPr/>
          <p:nvPr/>
        </p:nvSpPr>
        <p:spPr>
          <a:xfrm>
            <a:off x="329184" y="4389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P5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91440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MONTH 4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914400" y="4517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Smart Soil™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377440" y="4297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Desert Revegetation Trial — 60-day field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12648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D8D0"/>
                </a:solidFill>
              </a:rPr>
              <a:t>Saudi Agricultural Station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612648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2–4 Months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FA3"/>
                </a:solidFill>
              </a:rPr>
              <a:t>© 2026 Honest Fendy Foundation™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STATUS UPDATE — May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38"/>
                </a:solidFill>
              </a:rPr>
              <a:t>ذو الحجة 1447هـ  |  First Physical Validation Point of the FENDY ZERO™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0D2B1F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704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ACTIVE: Stage 1 olive pit carbonization underway in Riyadh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50876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D0"/>
                </a:solidFill>
              </a:rPr>
              <a:t>ZnCl₂ soaking protocol active  ·  First iodine number test expected within 2–4 weeks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148840"/>
            <a:ext cx="2029968" cy="260604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Sample Ready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Professional AC sample in Riyadh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~3,000 SAR budget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Prerequisite before investors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450592" y="2148840"/>
            <a:ext cx="2029968" cy="260604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2402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42032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Investor Package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542032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FENDY ZERO™ platform ready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for institutional investors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&amp; government partners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26864" y="2148840"/>
            <a:ext cx="2029968" cy="260604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22402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18304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Saudi Co. (MISA)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718304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Fendy Smart Water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Energy Solutions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Registration in progress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803136" y="2148840"/>
            <a:ext cx="2029968" cy="2606040"/>
          </a:xfrm>
          <a:prstGeom prst="rect">
            <a:avLst/>
          </a:prstGeom>
          <a:solidFill>
            <a:srgbClr val="14223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22402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94576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Patent Portfolio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894576" y="3246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SAIP #64235816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+ 3 additional filed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D8D0"/>
                </a:solidFill>
              </a:rPr>
              <a:t>May 2026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3"/>
                </a:solidFill>
              </a:rPr>
              <a:t>Dr. Khaled Abdelnaaim Fendy  |  Honest Fendy Foundation™  |  Est. 2009  |  Upper Egypt / Saudi Arabia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FENDY ZERO™ Pilot Concept Package</dc:title>
  <dc:subject>PptxGenJS Presentation</dc:subject>
  <dc:creator>Dr. Khaled Abdelnaaim Fendy</dc:creator>
  <cp:lastModifiedBy>Dr. Khaled Abdelnaaim Fendy</cp:lastModifiedBy>
  <cp:revision>1</cp:revision>
  <dcterms:created xsi:type="dcterms:W3CDTF">2026-05-31T09:47:36Z</dcterms:created>
  <dcterms:modified xsi:type="dcterms:W3CDTF">2026-05-31T09:47:36Z</dcterms:modified>
</cp:coreProperties>
</file>